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DM Serif Display" charset="1" panose="00000000000000000000"/>
      <p:regular r:id="rId19"/>
    </p:embeddedFont>
    <p:embeddedFont>
      <p:font typeface="Sawarabi Mincho" charset="1" panose="020006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 Id="rId9"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 Id="rId7"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172620"/>
            <a:ext cx="15025943" cy="3790331"/>
          </a:xfrm>
          <a:prstGeom prst="rect">
            <a:avLst/>
          </a:prstGeom>
        </p:spPr>
        <p:txBody>
          <a:bodyPr anchor="t" rtlCol="false" tIns="0" lIns="0" bIns="0" rIns="0">
            <a:spAutoFit/>
          </a:bodyPr>
          <a:lstStyle/>
          <a:p>
            <a:pPr algn="ctr">
              <a:lnSpc>
                <a:spcPts val="14600"/>
              </a:lnSpc>
            </a:pPr>
            <a:r>
              <a:rPr lang="en-US" sz="14600">
                <a:solidFill>
                  <a:srgbClr val="716C50"/>
                </a:solidFill>
                <a:latin typeface="DM Serif Display"/>
                <a:ea typeface="DM Serif Display"/>
                <a:cs typeface="DM Serif Display"/>
                <a:sym typeface="DM Serif Display"/>
              </a:rPr>
              <a:t>THYROID CANCER RECURRENCE </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Anggota</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6" id="26"/>
          <p:cNvSpPr txBox="true"/>
          <p:nvPr/>
        </p:nvSpPr>
        <p:spPr>
          <a:xfrm rot="0">
            <a:off x="6755433" y="4121832"/>
            <a:ext cx="7073359" cy="600075"/>
          </a:xfrm>
          <a:prstGeom prst="rect">
            <a:avLst/>
          </a:prstGeom>
        </p:spPr>
        <p:txBody>
          <a:bodyPr anchor="t" rtlCol="false" tIns="0" lIns="0" bIns="0" rIns="0">
            <a:spAutoFit/>
          </a:bodyPr>
          <a:lstStyle/>
          <a:p>
            <a:pPr algn="l">
              <a:lnSpc>
                <a:spcPts val="4560"/>
              </a:lnSpc>
            </a:pPr>
            <a:r>
              <a:rPr lang="en-US" sz="3800">
                <a:solidFill>
                  <a:srgbClr val="716C50"/>
                </a:solidFill>
                <a:latin typeface="Sawarabi Mincho"/>
                <a:ea typeface="Sawarabi Mincho"/>
                <a:cs typeface="Sawarabi Mincho"/>
                <a:sym typeface="Sawarabi Mincho"/>
              </a:rPr>
              <a:t>Richard Riovaldo Simatupang</a:t>
            </a:r>
          </a:p>
        </p:txBody>
      </p:sp>
      <p:sp>
        <p:nvSpPr>
          <p:cNvPr name="TextBox 27" id="27"/>
          <p:cNvSpPr txBox="true"/>
          <p:nvPr/>
        </p:nvSpPr>
        <p:spPr>
          <a:xfrm rot="0">
            <a:off x="6755433" y="4874360"/>
            <a:ext cx="6199790" cy="600075"/>
          </a:xfrm>
          <a:prstGeom prst="rect">
            <a:avLst/>
          </a:prstGeom>
        </p:spPr>
        <p:txBody>
          <a:bodyPr anchor="t" rtlCol="false" tIns="0" lIns="0" bIns="0" rIns="0">
            <a:spAutoFit/>
          </a:bodyPr>
          <a:lstStyle/>
          <a:p>
            <a:pPr algn="l">
              <a:lnSpc>
                <a:spcPts val="4560"/>
              </a:lnSpc>
            </a:pPr>
            <a:r>
              <a:rPr lang="en-US" sz="3800">
                <a:solidFill>
                  <a:srgbClr val="716C50"/>
                </a:solidFill>
                <a:latin typeface="Sawarabi Mincho"/>
                <a:ea typeface="Sawarabi Mincho"/>
                <a:cs typeface="Sawarabi Mincho"/>
                <a:sym typeface="Sawarabi Mincho"/>
              </a:rPr>
              <a:t>Muhammad Zainul Daffa</a:t>
            </a:r>
          </a:p>
        </p:txBody>
      </p:sp>
      <p:sp>
        <p:nvSpPr>
          <p:cNvPr name="TextBox 28" id="28"/>
          <p:cNvSpPr txBox="true"/>
          <p:nvPr/>
        </p:nvSpPr>
        <p:spPr>
          <a:xfrm rot="0">
            <a:off x="6755433" y="5626887"/>
            <a:ext cx="5808190" cy="600075"/>
          </a:xfrm>
          <a:prstGeom prst="rect">
            <a:avLst/>
          </a:prstGeom>
        </p:spPr>
        <p:txBody>
          <a:bodyPr anchor="t" rtlCol="false" tIns="0" lIns="0" bIns="0" rIns="0">
            <a:spAutoFit/>
          </a:bodyPr>
          <a:lstStyle/>
          <a:p>
            <a:pPr algn="l">
              <a:lnSpc>
                <a:spcPts val="4560"/>
              </a:lnSpc>
            </a:pPr>
            <a:r>
              <a:rPr lang="en-US" sz="3800">
                <a:solidFill>
                  <a:srgbClr val="716C50"/>
                </a:solidFill>
                <a:latin typeface="Sawarabi Mincho"/>
                <a:ea typeface="Sawarabi Mincho"/>
                <a:cs typeface="Sawarabi Mincho"/>
                <a:sym typeface="Sawarabi Mincho"/>
              </a:rPr>
              <a:t>Bernard Marcellino Sitio</a:t>
            </a:r>
          </a:p>
        </p:txBody>
      </p:sp>
      <p:grpSp>
        <p:nvGrpSpPr>
          <p:cNvPr name="Group 29" id="29"/>
          <p:cNvGrpSpPr/>
          <p:nvPr/>
        </p:nvGrpSpPr>
        <p:grpSpPr>
          <a:xfrm rot="0">
            <a:off x="6115977" y="4280293"/>
            <a:ext cx="311727" cy="31172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A583"/>
            </a:solidFill>
          </p:spPr>
        </p:sp>
        <p:sp>
          <p:nvSpPr>
            <p:cNvPr name="TextBox 31" id="3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6115977" y="5032821"/>
            <a:ext cx="311727" cy="31172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A583"/>
            </a:solidFill>
          </p:spPr>
        </p:sp>
        <p:sp>
          <p:nvSpPr>
            <p:cNvPr name="TextBox 34" id="3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5" id="35"/>
          <p:cNvGrpSpPr/>
          <p:nvPr/>
        </p:nvGrpSpPr>
        <p:grpSpPr>
          <a:xfrm rot="0">
            <a:off x="6115977" y="5785348"/>
            <a:ext cx="311727" cy="311727"/>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A583"/>
            </a:solidFill>
          </p:spPr>
        </p:sp>
        <p:sp>
          <p:nvSpPr>
            <p:cNvPr name="TextBox 37" id="3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38" id="38"/>
          <p:cNvGrpSpPr/>
          <p:nvPr/>
        </p:nvGrpSpPr>
        <p:grpSpPr>
          <a:xfrm rot="0">
            <a:off x="6115977" y="6535226"/>
            <a:ext cx="311727" cy="311727"/>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5A583"/>
            </a:solidFill>
          </p:spPr>
        </p:sp>
        <p:sp>
          <p:nvSpPr>
            <p:cNvPr name="TextBox 40" id="40"/>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41" id="41"/>
          <p:cNvSpPr txBox="true"/>
          <p:nvPr/>
        </p:nvSpPr>
        <p:spPr>
          <a:xfrm rot="0">
            <a:off x="6755433" y="6376764"/>
            <a:ext cx="5808190" cy="600075"/>
          </a:xfrm>
          <a:prstGeom prst="rect">
            <a:avLst/>
          </a:prstGeom>
        </p:spPr>
        <p:txBody>
          <a:bodyPr anchor="t" rtlCol="false" tIns="0" lIns="0" bIns="0" rIns="0">
            <a:spAutoFit/>
          </a:bodyPr>
          <a:lstStyle/>
          <a:p>
            <a:pPr algn="l">
              <a:lnSpc>
                <a:spcPts val="4560"/>
              </a:lnSpc>
            </a:pPr>
            <a:r>
              <a:rPr lang="en-US" sz="3800">
                <a:solidFill>
                  <a:srgbClr val="716C50"/>
                </a:solidFill>
                <a:latin typeface="Sawarabi Mincho"/>
                <a:ea typeface="Sawarabi Mincho"/>
                <a:cs typeface="Sawarabi Mincho"/>
                <a:sym typeface="Sawarabi Mincho"/>
              </a:rPr>
              <a:t>Rikardo Harefa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Data</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871163" y="3417220"/>
            <a:ext cx="16545675" cy="1820024"/>
          </a:xfrm>
          <a:custGeom>
            <a:avLst/>
            <a:gdLst/>
            <a:ahLst/>
            <a:cxnLst/>
            <a:rect r="r" b="b" t="t" l="l"/>
            <a:pathLst>
              <a:path h="1820024" w="16545675">
                <a:moveTo>
                  <a:pt x="0" y="0"/>
                </a:moveTo>
                <a:lnTo>
                  <a:pt x="16545674" y="0"/>
                </a:lnTo>
                <a:lnTo>
                  <a:pt x="16545674" y="1820024"/>
                </a:lnTo>
                <a:lnTo>
                  <a:pt x="0" y="1820024"/>
                </a:lnTo>
                <a:lnTo>
                  <a:pt x="0" y="0"/>
                </a:lnTo>
                <a:close/>
              </a:path>
            </a:pathLst>
          </a:custGeom>
          <a:blipFill>
            <a:blip r:embed="rId6"/>
            <a:stretch>
              <a:fillRect l="0" t="0" r="0" b="0"/>
            </a:stretch>
          </a:blipFill>
        </p:spPr>
      </p:sp>
      <p:sp>
        <p:nvSpPr>
          <p:cNvPr name="TextBox 27" id="27"/>
          <p:cNvSpPr txBox="true"/>
          <p:nvPr/>
        </p:nvSpPr>
        <p:spPr>
          <a:xfrm rot="0">
            <a:off x="2401198" y="5926228"/>
            <a:ext cx="13485604" cy="2865121"/>
          </a:xfrm>
          <a:prstGeom prst="rect">
            <a:avLst/>
          </a:prstGeom>
        </p:spPr>
        <p:txBody>
          <a:bodyPr anchor="t" rtlCol="false" tIns="0" lIns="0" bIns="0" rIns="0">
            <a:spAutoFit/>
          </a:bodyPr>
          <a:lstStyle/>
          <a:p>
            <a:pPr algn="l">
              <a:lnSpc>
                <a:spcPts val="3779"/>
              </a:lnSpc>
              <a:spcBef>
                <a:spcPct val="0"/>
              </a:spcBef>
            </a:pPr>
            <a:r>
              <a:rPr lang="en-US" sz="2699">
                <a:solidFill>
                  <a:srgbClr val="716C50"/>
                </a:solidFill>
                <a:latin typeface="Sawarabi Mincho"/>
                <a:ea typeface="Sawarabi Mincho"/>
                <a:cs typeface="Sawarabi Mincho"/>
                <a:sym typeface="Sawarabi Mincho"/>
              </a:rPr>
              <a:t>Kumpulan data ini berfokus pada kekambuhan kanker tiroid setelah terapi Radioactive Iodine (RAI). Kumpulan data ini berisi 383 catatan pasien dengan 13 atribut utama, termasuk usia, jenis kelamin, stadium kanker, jenis patologi, klasifikasi risiko, respons pengobatan, dan status kekambuhan. Data ini berharga untuk memprediksi kekambuhan kanker, memahami faktor risiko, dan mengevaluasi hasil pengobatan.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Model</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TextBox 26" id="26"/>
          <p:cNvSpPr txBox="true"/>
          <p:nvPr/>
        </p:nvSpPr>
        <p:spPr>
          <a:xfrm rot="0">
            <a:off x="6747833" y="4826952"/>
            <a:ext cx="4792333" cy="556896"/>
          </a:xfrm>
          <a:prstGeom prst="rect">
            <a:avLst/>
          </a:prstGeom>
        </p:spPr>
        <p:txBody>
          <a:bodyPr anchor="t" rtlCol="false" tIns="0" lIns="0" bIns="0" rIns="0">
            <a:spAutoFit/>
          </a:bodyPr>
          <a:lstStyle/>
          <a:p>
            <a:pPr algn="l">
              <a:lnSpc>
                <a:spcPts val="4479"/>
              </a:lnSpc>
              <a:spcBef>
                <a:spcPct val="0"/>
              </a:spcBef>
            </a:pPr>
            <a:r>
              <a:rPr lang="en-US" sz="3199">
                <a:solidFill>
                  <a:srgbClr val="716C50"/>
                </a:solidFill>
                <a:latin typeface="Sawarabi Mincho"/>
                <a:ea typeface="Sawarabi Mincho"/>
                <a:cs typeface="Sawarabi Mincho"/>
                <a:sym typeface="Sawarabi Mincho"/>
              </a:rPr>
              <a:t>KNN dan Naive Bayes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01111" y="937790"/>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037786" y="8023055"/>
            <a:ext cx="1536589" cy="1536589"/>
            <a:chOff x="0" y="0"/>
            <a:chExt cx="2048785" cy="2048785"/>
          </a:xfrm>
        </p:grpSpPr>
        <p:sp>
          <p:nvSpPr>
            <p:cNvPr name="Freeform 10" id="10"/>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3" id="13"/>
          <p:cNvGrpSpPr/>
          <p:nvPr/>
        </p:nvGrpSpPr>
        <p:grpSpPr>
          <a:xfrm rot="-5400000">
            <a:off x="16037786" y="727357"/>
            <a:ext cx="1536589" cy="1536589"/>
            <a:chOff x="0" y="0"/>
            <a:chExt cx="2048785" cy="2048785"/>
          </a:xfrm>
        </p:grpSpPr>
        <p:sp>
          <p:nvSpPr>
            <p:cNvPr name="Freeform 14" id="14"/>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7" id="17"/>
          <p:cNvGrpSpPr/>
          <p:nvPr/>
        </p:nvGrpSpPr>
        <p:grpSpPr>
          <a:xfrm rot="-10800000">
            <a:off x="707647" y="727357"/>
            <a:ext cx="1536589" cy="1536589"/>
            <a:chOff x="0" y="0"/>
            <a:chExt cx="2048785" cy="2048785"/>
          </a:xfrm>
        </p:grpSpPr>
        <p:sp>
          <p:nvSpPr>
            <p:cNvPr name="Freeform 18" id="18"/>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1" id="21"/>
          <p:cNvGrpSpPr/>
          <p:nvPr/>
        </p:nvGrpSpPr>
        <p:grpSpPr>
          <a:xfrm rot="5400000">
            <a:off x="707647" y="8023055"/>
            <a:ext cx="1536589" cy="1536589"/>
            <a:chOff x="0" y="0"/>
            <a:chExt cx="2048785" cy="2048785"/>
          </a:xfrm>
        </p:grpSpPr>
        <p:sp>
          <p:nvSpPr>
            <p:cNvPr name="Freeform 22" id="22"/>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5" id="25"/>
          <p:cNvSpPr/>
          <p:nvPr/>
        </p:nvSpPr>
        <p:spPr>
          <a:xfrm flipH="false" flipV="false" rot="0">
            <a:off x="1475941" y="3417220"/>
            <a:ext cx="11301259" cy="2528657"/>
          </a:xfrm>
          <a:custGeom>
            <a:avLst/>
            <a:gdLst/>
            <a:ahLst/>
            <a:cxnLst/>
            <a:rect r="r" b="b" t="t" l="l"/>
            <a:pathLst>
              <a:path h="2528657" w="11301259">
                <a:moveTo>
                  <a:pt x="0" y="0"/>
                </a:moveTo>
                <a:lnTo>
                  <a:pt x="11301259" y="0"/>
                </a:lnTo>
                <a:lnTo>
                  <a:pt x="11301259" y="2528656"/>
                </a:lnTo>
                <a:lnTo>
                  <a:pt x="0" y="2528656"/>
                </a:lnTo>
                <a:lnTo>
                  <a:pt x="0" y="0"/>
                </a:lnTo>
                <a:close/>
              </a:path>
            </a:pathLst>
          </a:custGeom>
          <a:blipFill>
            <a:blip r:embed="rId6"/>
            <a:stretch>
              <a:fillRect l="0" t="0" r="0" b="0"/>
            </a:stretch>
          </a:blipFill>
        </p:spPr>
      </p:sp>
      <p:sp>
        <p:nvSpPr>
          <p:cNvPr name="Freeform 26" id="26"/>
          <p:cNvSpPr/>
          <p:nvPr/>
        </p:nvSpPr>
        <p:spPr>
          <a:xfrm flipH="false" flipV="false" rot="0">
            <a:off x="1475941" y="3417220"/>
            <a:ext cx="11301259" cy="3093720"/>
          </a:xfrm>
          <a:custGeom>
            <a:avLst/>
            <a:gdLst/>
            <a:ahLst/>
            <a:cxnLst/>
            <a:rect r="r" b="b" t="t" l="l"/>
            <a:pathLst>
              <a:path h="3093720" w="11301259">
                <a:moveTo>
                  <a:pt x="0" y="0"/>
                </a:moveTo>
                <a:lnTo>
                  <a:pt x="11301259" y="0"/>
                </a:lnTo>
                <a:lnTo>
                  <a:pt x="11301259" y="3093719"/>
                </a:lnTo>
                <a:lnTo>
                  <a:pt x="0" y="3093719"/>
                </a:lnTo>
                <a:lnTo>
                  <a:pt x="0" y="0"/>
                </a:lnTo>
                <a:close/>
              </a:path>
            </a:pathLst>
          </a:custGeom>
          <a:blipFill>
            <a:blip r:embed="rId7"/>
            <a:stretch>
              <a:fillRect l="0" t="0" r="0" b="0"/>
            </a:stretch>
          </a:blipFill>
        </p:spPr>
      </p:sp>
      <p:sp>
        <p:nvSpPr>
          <p:cNvPr name="TextBox 27" id="27"/>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Labeling</a:t>
            </a:r>
          </a:p>
        </p:txBody>
      </p:sp>
      <p:sp>
        <p:nvSpPr>
          <p:cNvPr name="TextBox 28" id="28"/>
          <p:cNvSpPr txBox="true"/>
          <p:nvPr/>
        </p:nvSpPr>
        <p:spPr>
          <a:xfrm rot="0">
            <a:off x="8681859" y="6434739"/>
            <a:ext cx="7069390" cy="960121"/>
          </a:xfrm>
          <a:prstGeom prst="rect">
            <a:avLst/>
          </a:prstGeom>
        </p:spPr>
        <p:txBody>
          <a:bodyPr anchor="t" rtlCol="false" tIns="0" lIns="0" bIns="0" rIns="0">
            <a:spAutoFit/>
          </a:bodyPr>
          <a:lstStyle/>
          <a:p>
            <a:pPr algn="l">
              <a:lnSpc>
                <a:spcPts val="3779"/>
              </a:lnSpc>
              <a:spcBef>
                <a:spcPct val="0"/>
              </a:spcBef>
            </a:pPr>
            <a:r>
              <a:rPr lang="en-US" sz="2699">
                <a:solidFill>
                  <a:srgbClr val="716C50"/>
                </a:solidFill>
                <a:latin typeface="Sawarabi Mincho"/>
                <a:ea typeface="Sawarabi Mincho"/>
                <a:cs typeface="Sawarabi Mincho"/>
                <a:sym typeface="Sawarabi Mincho"/>
              </a:rPr>
              <a:t>Penamaan label untuk klasifikasi agar dapat di visualisasikan dan dilatih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6037786" y="8023055"/>
            <a:ext cx="1536589" cy="1536589"/>
            <a:chOff x="0" y="0"/>
            <a:chExt cx="2048785" cy="2048785"/>
          </a:xfrm>
        </p:grpSpPr>
        <p:sp>
          <p:nvSpPr>
            <p:cNvPr name="Freeform 10" id="10"/>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3" id="13"/>
          <p:cNvGrpSpPr/>
          <p:nvPr/>
        </p:nvGrpSpPr>
        <p:grpSpPr>
          <a:xfrm rot="-5400000">
            <a:off x="16037786" y="727357"/>
            <a:ext cx="1536589" cy="1536589"/>
            <a:chOff x="0" y="0"/>
            <a:chExt cx="2048785" cy="2048785"/>
          </a:xfrm>
        </p:grpSpPr>
        <p:sp>
          <p:nvSpPr>
            <p:cNvPr name="Freeform 14" id="14"/>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7" id="17"/>
          <p:cNvGrpSpPr/>
          <p:nvPr/>
        </p:nvGrpSpPr>
        <p:grpSpPr>
          <a:xfrm rot="-10800000">
            <a:off x="707647" y="727357"/>
            <a:ext cx="1536589" cy="1536589"/>
            <a:chOff x="0" y="0"/>
            <a:chExt cx="2048785" cy="2048785"/>
          </a:xfrm>
        </p:grpSpPr>
        <p:sp>
          <p:nvSpPr>
            <p:cNvPr name="Freeform 18" id="18"/>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1" id="21"/>
          <p:cNvGrpSpPr/>
          <p:nvPr/>
        </p:nvGrpSpPr>
        <p:grpSpPr>
          <a:xfrm rot="5400000">
            <a:off x="707647" y="8023055"/>
            <a:ext cx="1536589" cy="1536589"/>
            <a:chOff x="0" y="0"/>
            <a:chExt cx="2048785" cy="2048785"/>
          </a:xfrm>
        </p:grpSpPr>
        <p:sp>
          <p:nvSpPr>
            <p:cNvPr name="Freeform 22" id="22"/>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5" id="25"/>
          <p:cNvSpPr/>
          <p:nvPr/>
        </p:nvSpPr>
        <p:spPr>
          <a:xfrm flipH="false" flipV="false" rot="0">
            <a:off x="4563556" y="3402428"/>
            <a:ext cx="3217800" cy="5388921"/>
          </a:xfrm>
          <a:custGeom>
            <a:avLst/>
            <a:gdLst/>
            <a:ahLst/>
            <a:cxnLst/>
            <a:rect r="r" b="b" t="t" l="l"/>
            <a:pathLst>
              <a:path h="5388921" w="3217800">
                <a:moveTo>
                  <a:pt x="0" y="0"/>
                </a:moveTo>
                <a:lnTo>
                  <a:pt x="3217800" y="0"/>
                </a:lnTo>
                <a:lnTo>
                  <a:pt x="3217800" y="5388921"/>
                </a:lnTo>
                <a:lnTo>
                  <a:pt x="0" y="5388921"/>
                </a:lnTo>
                <a:lnTo>
                  <a:pt x="0" y="0"/>
                </a:lnTo>
                <a:close/>
              </a:path>
            </a:pathLst>
          </a:custGeom>
          <a:blipFill>
            <a:blip r:embed="rId6"/>
            <a:stretch>
              <a:fillRect l="0" t="-9557" r="-20560" b="0"/>
            </a:stretch>
          </a:blipFill>
        </p:spPr>
      </p:sp>
      <p:sp>
        <p:nvSpPr>
          <p:cNvPr name="TextBox 26" id="26"/>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Labeling</a:t>
            </a:r>
          </a:p>
        </p:txBody>
      </p:sp>
      <p:sp>
        <p:nvSpPr>
          <p:cNvPr name="TextBox 27" id="27"/>
          <p:cNvSpPr txBox="true"/>
          <p:nvPr/>
        </p:nvSpPr>
        <p:spPr>
          <a:xfrm rot="0">
            <a:off x="8245443" y="3341020"/>
            <a:ext cx="7069390" cy="960121"/>
          </a:xfrm>
          <a:prstGeom prst="rect">
            <a:avLst/>
          </a:prstGeom>
        </p:spPr>
        <p:txBody>
          <a:bodyPr anchor="t" rtlCol="false" tIns="0" lIns="0" bIns="0" rIns="0">
            <a:spAutoFit/>
          </a:bodyPr>
          <a:lstStyle/>
          <a:p>
            <a:pPr algn="l">
              <a:lnSpc>
                <a:spcPts val="3779"/>
              </a:lnSpc>
              <a:spcBef>
                <a:spcPct val="0"/>
              </a:spcBef>
            </a:pPr>
            <a:r>
              <a:rPr lang="en-US" sz="2699">
                <a:solidFill>
                  <a:srgbClr val="716C50"/>
                </a:solidFill>
                <a:latin typeface="Sawarabi Mincho"/>
                <a:ea typeface="Sawarabi Mincho"/>
                <a:cs typeface="Sawarabi Mincho"/>
                <a:sym typeface="Sawarabi Mincho"/>
              </a:rPr>
              <a:t>Pengecekkan data apakah sudah benar atau belum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1219200"/>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Visualisasi Fitur</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1631028" y="2549524"/>
            <a:ext cx="4099341" cy="3116672"/>
          </a:xfrm>
          <a:custGeom>
            <a:avLst/>
            <a:gdLst/>
            <a:ahLst/>
            <a:cxnLst/>
            <a:rect r="r" b="b" t="t" l="l"/>
            <a:pathLst>
              <a:path h="3116672" w="4099341">
                <a:moveTo>
                  <a:pt x="0" y="0"/>
                </a:moveTo>
                <a:lnTo>
                  <a:pt x="4099341" y="0"/>
                </a:lnTo>
                <a:lnTo>
                  <a:pt x="4099341" y="3116673"/>
                </a:lnTo>
                <a:lnTo>
                  <a:pt x="0" y="3116673"/>
                </a:lnTo>
                <a:lnTo>
                  <a:pt x="0" y="0"/>
                </a:lnTo>
                <a:close/>
              </a:path>
            </a:pathLst>
          </a:custGeom>
          <a:blipFill>
            <a:blip r:embed="rId6"/>
            <a:stretch>
              <a:fillRect l="0" t="0" r="0" b="0"/>
            </a:stretch>
          </a:blipFill>
        </p:spPr>
      </p:sp>
      <p:sp>
        <p:nvSpPr>
          <p:cNvPr name="Freeform 27" id="27"/>
          <p:cNvSpPr/>
          <p:nvPr/>
        </p:nvSpPr>
        <p:spPr>
          <a:xfrm flipH="false" flipV="false" rot="0">
            <a:off x="7094330" y="2549524"/>
            <a:ext cx="4099341" cy="3116672"/>
          </a:xfrm>
          <a:custGeom>
            <a:avLst/>
            <a:gdLst/>
            <a:ahLst/>
            <a:cxnLst/>
            <a:rect r="r" b="b" t="t" l="l"/>
            <a:pathLst>
              <a:path h="3116672" w="4099341">
                <a:moveTo>
                  <a:pt x="0" y="0"/>
                </a:moveTo>
                <a:lnTo>
                  <a:pt x="4099340" y="0"/>
                </a:lnTo>
                <a:lnTo>
                  <a:pt x="4099340" y="3116673"/>
                </a:lnTo>
                <a:lnTo>
                  <a:pt x="0" y="3116673"/>
                </a:lnTo>
                <a:lnTo>
                  <a:pt x="0" y="0"/>
                </a:lnTo>
                <a:close/>
              </a:path>
            </a:pathLst>
          </a:custGeom>
          <a:blipFill>
            <a:blip r:embed="rId7"/>
            <a:stretch>
              <a:fillRect l="0" t="0" r="0" b="0"/>
            </a:stretch>
          </a:blipFill>
        </p:spPr>
      </p:sp>
      <p:sp>
        <p:nvSpPr>
          <p:cNvPr name="Freeform 28" id="28"/>
          <p:cNvSpPr/>
          <p:nvPr/>
        </p:nvSpPr>
        <p:spPr>
          <a:xfrm flipH="false" flipV="false" rot="0">
            <a:off x="12557631" y="2549524"/>
            <a:ext cx="4099341" cy="3116672"/>
          </a:xfrm>
          <a:custGeom>
            <a:avLst/>
            <a:gdLst/>
            <a:ahLst/>
            <a:cxnLst/>
            <a:rect r="r" b="b" t="t" l="l"/>
            <a:pathLst>
              <a:path h="3116672" w="4099341">
                <a:moveTo>
                  <a:pt x="0" y="0"/>
                </a:moveTo>
                <a:lnTo>
                  <a:pt x="4099341" y="0"/>
                </a:lnTo>
                <a:lnTo>
                  <a:pt x="4099341" y="3116673"/>
                </a:lnTo>
                <a:lnTo>
                  <a:pt x="0" y="3116673"/>
                </a:lnTo>
                <a:lnTo>
                  <a:pt x="0" y="0"/>
                </a:lnTo>
                <a:close/>
              </a:path>
            </a:pathLst>
          </a:custGeom>
          <a:blipFill>
            <a:blip r:embed="rId8"/>
            <a:stretch>
              <a:fillRect l="0" t="0" r="0" b="0"/>
            </a:stretch>
          </a:blipFill>
        </p:spPr>
      </p:sp>
      <p:sp>
        <p:nvSpPr>
          <p:cNvPr name="Freeform 29" id="29"/>
          <p:cNvSpPr/>
          <p:nvPr/>
        </p:nvSpPr>
        <p:spPr>
          <a:xfrm flipH="false" flipV="false" rot="0">
            <a:off x="1631028" y="5951947"/>
            <a:ext cx="4099341" cy="3116672"/>
          </a:xfrm>
          <a:custGeom>
            <a:avLst/>
            <a:gdLst/>
            <a:ahLst/>
            <a:cxnLst/>
            <a:rect r="r" b="b" t="t" l="l"/>
            <a:pathLst>
              <a:path h="3116672" w="4099341">
                <a:moveTo>
                  <a:pt x="0" y="0"/>
                </a:moveTo>
                <a:lnTo>
                  <a:pt x="4099341" y="0"/>
                </a:lnTo>
                <a:lnTo>
                  <a:pt x="4099341" y="3116672"/>
                </a:lnTo>
                <a:lnTo>
                  <a:pt x="0" y="3116672"/>
                </a:lnTo>
                <a:lnTo>
                  <a:pt x="0" y="0"/>
                </a:lnTo>
                <a:close/>
              </a:path>
            </a:pathLst>
          </a:custGeom>
          <a:blipFill>
            <a:blip r:embed="rId9"/>
            <a:stretch>
              <a:fillRect l="0" t="0" r="0" b="0"/>
            </a:stretch>
          </a:blipFill>
        </p:spPr>
      </p:sp>
      <p:sp>
        <p:nvSpPr>
          <p:cNvPr name="Freeform 30" id="30"/>
          <p:cNvSpPr/>
          <p:nvPr/>
        </p:nvSpPr>
        <p:spPr>
          <a:xfrm flipH="false" flipV="false" rot="0">
            <a:off x="7146491" y="6031263"/>
            <a:ext cx="3995017" cy="3037357"/>
          </a:xfrm>
          <a:custGeom>
            <a:avLst/>
            <a:gdLst/>
            <a:ahLst/>
            <a:cxnLst/>
            <a:rect r="r" b="b" t="t" l="l"/>
            <a:pathLst>
              <a:path h="3037357" w="3995017">
                <a:moveTo>
                  <a:pt x="0" y="0"/>
                </a:moveTo>
                <a:lnTo>
                  <a:pt x="3995018" y="0"/>
                </a:lnTo>
                <a:lnTo>
                  <a:pt x="3995018" y="3037356"/>
                </a:lnTo>
                <a:lnTo>
                  <a:pt x="0" y="3037356"/>
                </a:lnTo>
                <a:lnTo>
                  <a:pt x="0" y="0"/>
                </a:lnTo>
                <a:close/>
              </a:path>
            </a:pathLst>
          </a:custGeom>
          <a:blipFill>
            <a:blip r:embed="rId10"/>
            <a:stretch>
              <a:fillRect l="0" t="0" r="0" b="0"/>
            </a:stretch>
          </a:blipFill>
        </p:spPr>
      </p:sp>
      <p:sp>
        <p:nvSpPr>
          <p:cNvPr name="Freeform 31" id="31"/>
          <p:cNvSpPr/>
          <p:nvPr/>
        </p:nvSpPr>
        <p:spPr>
          <a:xfrm flipH="false" flipV="false" rot="0">
            <a:off x="12557631" y="6031263"/>
            <a:ext cx="4057509" cy="3084868"/>
          </a:xfrm>
          <a:custGeom>
            <a:avLst/>
            <a:gdLst/>
            <a:ahLst/>
            <a:cxnLst/>
            <a:rect r="r" b="b" t="t" l="l"/>
            <a:pathLst>
              <a:path h="3084868" w="4057509">
                <a:moveTo>
                  <a:pt x="0" y="0"/>
                </a:moveTo>
                <a:lnTo>
                  <a:pt x="4057509" y="0"/>
                </a:lnTo>
                <a:lnTo>
                  <a:pt x="4057509" y="3084868"/>
                </a:lnTo>
                <a:lnTo>
                  <a:pt x="0" y="3084868"/>
                </a:lnTo>
                <a:lnTo>
                  <a:pt x="0" y="0"/>
                </a:lnTo>
                <a:close/>
              </a:path>
            </a:pathLst>
          </a:custGeom>
          <a:blipFill>
            <a:blip r:embed="rId11"/>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1219200"/>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Visualisasi Fitur</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2244236" y="2428237"/>
            <a:ext cx="7660937" cy="6032988"/>
          </a:xfrm>
          <a:custGeom>
            <a:avLst/>
            <a:gdLst/>
            <a:ahLst/>
            <a:cxnLst/>
            <a:rect r="r" b="b" t="t" l="l"/>
            <a:pathLst>
              <a:path h="6032988" w="7660937">
                <a:moveTo>
                  <a:pt x="0" y="0"/>
                </a:moveTo>
                <a:lnTo>
                  <a:pt x="7660937" y="0"/>
                </a:lnTo>
                <a:lnTo>
                  <a:pt x="7660937" y="6032988"/>
                </a:lnTo>
                <a:lnTo>
                  <a:pt x="0" y="6032988"/>
                </a:lnTo>
                <a:lnTo>
                  <a:pt x="0" y="0"/>
                </a:lnTo>
                <a:close/>
              </a:path>
            </a:pathLst>
          </a:custGeom>
          <a:blipFill>
            <a:blip r:embed="rId6"/>
            <a:stretch>
              <a:fillRect l="0" t="0" r="0" b="0"/>
            </a:stretch>
          </a:blipFill>
        </p:spPr>
      </p:sp>
      <p:sp>
        <p:nvSpPr>
          <p:cNvPr name="TextBox 27" id="27"/>
          <p:cNvSpPr txBox="true"/>
          <p:nvPr/>
        </p:nvSpPr>
        <p:spPr>
          <a:xfrm rot="0">
            <a:off x="12328782" y="5164695"/>
            <a:ext cx="2626237" cy="483871"/>
          </a:xfrm>
          <a:prstGeom prst="rect">
            <a:avLst/>
          </a:prstGeom>
        </p:spPr>
        <p:txBody>
          <a:bodyPr anchor="t" rtlCol="false" tIns="0" lIns="0" bIns="0" rIns="0">
            <a:spAutoFit/>
          </a:bodyPr>
          <a:lstStyle/>
          <a:p>
            <a:pPr algn="l">
              <a:lnSpc>
                <a:spcPts val="3779"/>
              </a:lnSpc>
              <a:spcBef>
                <a:spcPct val="0"/>
              </a:spcBef>
            </a:pPr>
            <a:r>
              <a:rPr lang="en-US" sz="2699">
                <a:solidFill>
                  <a:srgbClr val="716C50"/>
                </a:solidFill>
                <a:latin typeface="Sawarabi Mincho"/>
                <a:ea typeface="Sawarabi Mincho"/>
                <a:cs typeface="Sawarabi Mincho"/>
                <a:sym typeface="Sawarabi Mincho"/>
              </a:rPr>
              <a:t>Corelasi map</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Result KNN</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1475941" y="3812983"/>
            <a:ext cx="8488646" cy="4450803"/>
          </a:xfrm>
          <a:custGeom>
            <a:avLst/>
            <a:gdLst/>
            <a:ahLst/>
            <a:cxnLst/>
            <a:rect r="r" b="b" t="t" l="l"/>
            <a:pathLst>
              <a:path h="4450803" w="8488646">
                <a:moveTo>
                  <a:pt x="0" y="0"/>
                </a:moveTo>
                <a:lnTo>
                  <a:pt x="8488646" y="0"/>
                </a:lnTo>
                <a:lnTo>
                  <a:pt x="8488646" y="4450803"/>
                </a:lnTo>
                <a:lnTo>
                  <a:pt x="0" y="4450803"/>
                </a:lnTo>
                <a:lnTo>
                  <a:pt x="0" y="0"/>
                </a:lnTo>
                <a:close/>
              </a:path>
            </a:pathLst>
          </a:custGeom>
          <a:blipFill>
            <a:blip r:embed="rId6"/>
            <a:stretch>
              <a:fillRect l="0" t="0" r="0" b="0"/>
            </a:stretch>
          </a:blipFill>
        </p:spPr>
      </p:sp>
      <p:sp>
        <p:nvSpPr>
          <p:cNvPr name="TextBox 27" id="27"/>
          <p:cNvSpPr txBox="true"/>
          <p:nvPr/>
        </p:nvSpPr>
        <p:spPr>
          <a:xfrm rot="0">
            <a:off x="10166604" y="5520225"/>
            <a:ext cx="4184914" cy="960120"/>
          </a:xfrm>
          <a:prstGeom prst="rect">
            <a:avLst/>
          </a:prstGeom>
        </p:spPr>
        <p:txBody>
          <a:bodyPr anchor="t" rtlCol="false" tIns="0" lIns="0" bIns="0" rIns="0">
            <a:spAutoFit/>
          </a:bodyPr>
          <a:lstStyle/>
          <a:p>
            <a:pPr algn="l">
              <a:lnSpc>
                <a:spcPts val="3779"/>
              </a:lnSpc>
              <a:spcBef>
                <a:spcPct val="0"/>
              </a:spcBef>
            </a:pPr>
            <a:r>
              <a:rPr lang="en-US" sz="2700">
                <a:solidFill>
                  <a:srgbClr val="716C50"/>
                </a:solidFill>
                <a:latin typeface="Sawarabi Mincho"/>
                <a:ea typeface="Sawarabi Mincho"/>
                <a:cs typeface="Sawarabi Mincho"/>
                <a:sym typeface="Sawarabi Mincho"/>
              </a:rPr>
              <a:t>Hasil evaluasi menggunakan KNN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Result KNN</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1631028" y="3660210"/>
            <a:ext cx="11301259" cy="2966580"/>
          </a:xfrm>
          <a:custGeom>
            <a:avLst/>
            <a:gdLst/>
            <a:ahLst/>
            <a:cxnLst/>
            <a:rect r="r" b="b" t="t" l="l"/>
            <a:pathLst>
              <a:path h="2966580" w="11301259">
                <a:moveTo>
                  <a:pt x="0" y="0"/>
                </a:moveTo>
                <a:lnTo>
                  <a:pt x="11301259" y="0"/>
                </a:lnTo>
                <a:lnTo>
                  <a:pt x="11301259" y="2966580"/>
                </a:lnTo>
                <a:lnTo>
                  <a:pt x="0" y="2966580"/>
                </a:lnTo>
                <a:lnTo>
                  <a:pt x="0" y="0"/>
                </a:lnTo>
                <a:close/>
              </a:path>
            </a:pathLst>
          </a:custGeom>
          <a:blipFill>
            <a:blip r:embed="rId6"/>
            <a:stretch>
              <a:fillRect l="0" t="0" r="0" b="0"/>
            </a:stretch>
          </a:blipFill>
        </p:spPr>
      </p:sp>
      <p:sp>
        <p:nvSpPr>
          <p:cNvPr name="TextBox 27" id="27"/>
          <p:cNvSpPr txBox="true"/>
          <p:nvPr/>
        </p:nvSpPr>
        <p:spPr>
          <a:xfrm rot="0">
            <a:off x="10497958" y="6798240"/>
            <a:ext cx="4184914" cy="960120"/>
          </a:xfrm>
          <a:prstGeom prst="rect">
            <a:avLst/>
          </a:prstGeom>
        </p:spPr>
        <p:txBody>
          <a:bodyPr anchor="t" rtlCol="false" tIns="0" lIns="0" bIns="0" rIns="0">
            <a:spAutoFit/>
          </a:bodyPr>
          <a:lstStyle/>
          <a:p>
            <a:pPr algn="l">
              <a:lnSpc>
                <a:spcPts val="3779"/>
              </a:lnSpc>
              <a:spcBef>
                <a:spcPct val="0"/>
              </a:spcBef>
            </a:pPr>
            <a:r>
              <a:rPr lang="en-US" sz="2700">
                <a:solidFill>
                  <a:srgbClr val="716C50"/>
                </a:solidFill>
                <a:latin typeface="Sawarabi Mincho"/>
                <a:ea typeface="Sawarabi Mincho"/>
                <a:cs typeface="Sawarabi Mincho"/>
                <a:sym typeface="Sawarabi Mincho"/>
              </a:rPr>
              <a:t>Penggunaan data baru pada KNN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Result Naive Bayes</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1475941" y="3812983"/>
            <a:ext cx="8488646" cy="4450803"/>
          </a:xfrm>
          <a:custGeom>
            <a:avLst/>
            <a:gdLst/>
            <a:ahLst/>
            <a:cxnLst/>
            <a:rect r="r" b="b" t="t" l="l"/>
            <a:pathLst>
              <a:path h="4450803" w="8488646">
                <a:moveTo>
                  <a:pt x="0" y="0"/>
                </a:moveTo>
                <a:lnTo>
                  <a:pt x="8488646" y="0"/>
                </a:lnTo>
                <a:lnTo>
                  <a:pt x="8488646" y="4450803"/>
                </a:lnTo>
                <a:lnTo>
                  <a:pt x="0" y="4450803"/>
                </a:lnTo>
                <a:lnTo>
                  <a:pt x="0" y="0"/>
                </a:lnTo>
                <a:close/>
              </a:path>
            </a:pathLst>
          </a:custGeom>
          <a:blipFill>
            <a:blip r:embed="rId6"/>
            <a:stretch>
              <a:fillRect l="0" t="0" r="0" b="0"/>
            </a:stretch>
          </a:blipFill>
        </p:spPr>
      </p:sp>
      <p:sp>
        <p:nvSpPr>
          <p:cNvPr name="TextBox 27" id="27"/>
          <p:cNvSpPr txBox="true"/>
          <p:nvPr/>
        </p:nvSpPr>
        <p:spPr>
          <a:xfrm rot="0">
            <a:off x="10166604" y="5520225"/>
            <a:ext cx="4621699" cy="960120"/>
          </a:xfrm>
          <a:prstGeom prst="rect">
            <a:avLst/>
          </a:prstGeom>
        </p:spPr>
        <p:txBody>
          <a:bodyPr anchor="t" rtlCol="false" tIns="0" lIns="0" bIns="0" rIns="0">
            <a:spAutoFit/>
          </a:bodyPr>
          <a:lstStyle/>
          <a:p>
            <a:pPr algn="l">
              <a:lnSpc>
                <a:spcPts val="3779"/>
              </a:lnSpc>
              <a:spcBef>
                <a:spcPct val="0"/>
              </a:spcBef>
            </a:pPr>
            <a:r>
              <a:rPr lang="en-US" sz="2700">
                <a:solidFill>
                  <a:srgbClr val="716C50"/>
                </a:solidFill>
                <a:latin typeface="Sawarabi Mincho"/>
                <a:ea typeface="Sawarabi Mincho"/>
                <a:cs typeface="Sawarabi Mincho"/>
                <a:sym typeface="Sawarabi Mincho"/>
              </a:rPr>
              <a:t>Hasil evaluasi menggunakan Naive Bayes</a:t>
            </a:r>
          </a:p>
        </p:txBody>
      </p:sp>
      <p:sp>
        <p:nvSpPr>
          <p:cNvPr name="Freeform 28" id="28"/>
          <p:cNvSpPr/>
          <p:nvPr/>
        </p:nvSpPr>
        <p:spPr>
          <a:xfrm flipH="false" flipV="false" rot="0">
            <a:off x="1475941" y="3812983"/>
            <a:ext cx="8488646" cy="4194557"/>
          </a:xfrm>
          <a:custGeom>
            <a:avLst/>
            <a:gdLst/>
            <a:ahLst/>
            <a:cxnLst/>
            <a:rect r="r" b="b" t="t" l="l"/>
            <a:pathLst>
              <a:path h="4194557" w="8488646">
                <a:moveTo>
                  <a:pt x="0" y="0"/>
                </a:moveTo>
                <a:lnTo>
                  <a:pt x="8488646" y="0"/>
                </a:lnTo>
                <a:lnTo>
                  <a:pt x="8488646" y="4194557"/>
                </a:lnTo>
                <a:lnTo>
                  <a:pt x="0" y="4194557"/>
                </a:lnTo>
                <a:lnTo>
                  <a:pt x="0" y="0"/>
                </a:lnTo>
                <a:close/>
              </a:path>
            </a:pathLst>
          </a:custGeom>
          <a:blipFill>
            <a:blip r:embed="rId7"/>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2086895"/>
            <a:ext cx="15025943" cy="1330324"/>
          </a:xfrm>
          <a:prstGeom prst="rect">
            <a:avLst/>
          </a:prstGeom>
        </p:spPr>
        <p:txBody>
          <a:bodyPr anchor="t" rtlCol="false" tIns="0" lIns="0" bIns="0" rIns="0">
            <a:spAutoFit/>
          </a:bodyPr>
          <a:lstStyle/>
          <a:p>
            <a:pPr algn="ctr">
              <a:lnSpc>
                <a:spcPts val="9999"/>
              </a:lnSpc>
            </a:pPr>
            <a:r>
              <a:rPr lang="en-US" sz="9999">
                <a:solidFill>
                  <a:srgbClr val="716C50"/>
                </a:solidFill>
                <a:latin typeface="DM Serif Display"/>
                <a:ea typeface="DM Serif Display"/>
                <a:cs typeface="DM Serif Display"/>
                <a:sym typeface="DM Serif Display"/>
              </a:rPr>
              <a:t>Result Naive Baiyes</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26" id="26"/>
          <p:cNvSpPr/>
          <p:nvPr/>
        </p:nvSpPr>
        <p:spPr>
          <a:xfrm flipH="false" flipV="false" rot="0">
            <a:off x="1631028" y="3660210"/>
            <a:ext cx="11301259" cy="2966580"/>
          </a:xfrm>
          <a:custGeom>
            <a:avLst/>
            <a:gdLst/>
            <a:ahLst/>
            <a:cxnLst/>
            <a:rect r="r" b="b" t="t" l="l"/>
            <a:pathLst>
              <a:path h="2966580" w="11301259">
                <a:moveTo>
                  <a:pt x="0" y="0"/>
                </a:moveTo>
                <a:lnTo>
                  <a:pt x="11301259" y="0"/>
                </a:lnTo>
                <a:lnTo>
                  <a:pt x="11301259" y="2966580"/>
                </a:lnTo>
                <a:lnTo>
                  <a:pt x="0" y="2966580"/>
                </a:lnTo>
                <a:lnTo>
                  <a:pt x="0" y="0"/>
                </a:lnTo>
                <a:close/>
              </a:path>
            </a:pathLst>
          </a:custGeom>
          <a:blipFill>
            <a:blip r:embed="rId6"/>
            <a:stretch>
              <a:fillRect l="0" t="0" r="0" b="0"/>
            </a:stretch>
          </a:blipFill>
        </p:spPr>
      </p:sp>
      <p:sp>
        <p:nvSpPr>
          <p:cNvPr name="TextBox 27" id="27"/>
          <p:cNvSpPr txBox="true"/>
          <p:nvPr/>
        </p:nvSpPr>
        <p:spPr>
          <a:xfrm rot="0">
            <a:off x="10497958" y="6798240"/>
            <a:ext cx="4184914" cy="960120"/>
          </a:xfrm>
          <a:prstGeom prst="rect">
            <a:avLst/>
          </a:prstGeom>
        </p:spPr>
        <p:txBody>
          <a:bodyPr anchor="t" rtlCol="false" tIns="0" lIns="0" bIns="0" rIns="0">
            <a:spAutoFit/>
          </a:bodyPr>
          <a:lstStyle/>
          <a:p>
            <a:pPr algn="l">
              <a:lnSpc>
                <a:spcPts val="3779"/>
              </a:lnSpc>
              <a:spcBef>
                <a:spcPct val="0"/>
              </a:spcBef>
            </a:pPr>
            <a:r>
              <a:rPr lang="en-US" sz="2700">
                <a:solidFill>
                  <a:srgbClr val="716C50"/>
                </a:solidFill>
                <a:latin typeface="Sawarabi Mincho"/>
                <a:ea typeface="Sawarabi Mincho"/>
                <a:cs typeface="Sawarabi Mincho"/>
                <a:sym typeface="Sawarabi Mincho"/>
              </a:rPr>
              <a:t>Penggunaan data baru pada naive bayes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A5A583"/>
        </a:solidFill>
      </p:bgPr>
    </p:bg>
    <p:spTree>
      <p:nvGrpSpPr>
        <p:cNvPr id="1" name=""/>
        <p:cNvGrpSpPr/>
        <p:nvPr/>
      </p:nvGrpSpPr>
      <p:grpSpPr>
        <a:xfrm>
          <a:off x="0" y="0"/>
          <a:ext cx="0" cy="0"/>
          <a:chOff x="0" y="0"/>
          <a:chExt cx="0" cy="0"/>
        </a:xfrm>
      </p:grpSpPr>
      <p:sp>
        <p:nvSpPr>
          <p:cNvPr name="Freeform 2" id="2"/>
          <p:cNvSpPr/>
          <p:nvPr/>
        </p:nvSpPr>
        <p:spPr>
          <a:xfrm flipH="false" flipV="false" rot="0">
            <a:off x="-185500" y="-1305067"/>
            <a:ext cx="18659000" cy="12897135"/>
          </a:xfrm>
          <a:custGeom>
            <a:avLst/>
            <a:gdLst/>
            <a:ahLst/>
            <a:cxnLst/>
            <a:rect r="r" b="b" t="t" l="l"/>
            <a:pathLst>
              <a:path h="12897135" w="18659000">
                <a:moveTo>
                  <a:pt x="0" y="0"/>
                </a:moveTo>
                <a:lnTo>
                  <a:pt x="18659000" y="0"/>
                </a:lnTo>
                <a:lnTo>
                  <a:pt x="18659000" y="12897134"/>
                </a:lnTo>
                <a:lnTo>
                  <a:pt x="0" y="12897134"/>
                </a:lnTo>
                <a:lnTo>
                  <a:pt x="0" y="0"/>
                </a:lnTo>
                <a:close/>
              </a:path>
            </a:pathLst>
          </a:custGeom>
          <a:blipFill>
            <a:blip r:embed="rId2">
              <a:alphaModFix amt="50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87792" y="516923"/>
            <a:ext cx="17312417" cy="9253154"/>
            <a:chOff x="0" y="0"/>
            <a:chExt cx="4559649" cy="2437045"/>
          </a:xfrm>
        </p:grpSpPr>
        <p:sp>
          <p:nvSpPr>
            <p:cNvPr name="Freeform 4" id="4"/>
            <p:cNvSpPr/>
            <p:nvPr/>
          </p:nvSpPr>
          <p:spPr>
            <a:xfrm flipH="false" flipV="false" rot="0">
              <a:off x="0" y="0"/>
              <a:ext cx="4559649" cy="2437045"/>
            </a:xfrm>
            <a:custGeom>
              <a:avLst/>
              <a:gdLst/>
              <a:ahLst/>
              <a:cxnLst/>
              <a:rect r="r" b="b" t="t" l="l"/>
              <a:pathLst>
                <a:path h="2437045" w="4559649">
                  <a:moveTo>
                    <a:pt x="0" y="0"/>
                  </a:moveTo>
                  <a:lnTo>
                    <a:pt x="4559649" y="0"/>
                  </a:lnTo>
                  <a:lnTo>
                    <a:pt x="4559649" y="2437045"/>
                  </a:lnTo>
                  <a:lnTo>
                    <a:pt x="0" y="2437045"/>
                  </a:lnTo>
                  <a:close/>
                </a:path>
              </a:pathLst>
            </a:custGeom>
            <a:solidFill>
              <a:srgbClr val="FFFAEA"/>
            </a:solidFill>
          </p:spPr>
        </p:sp>
        <p:sp>
          <p:nvSpPr>
            <p:cNvPr name="TextBox 5" id="5"/>
            <p:cNvSpPr txBox="true"/>
            <p:nvPr/>
          </p:nvSpPr>
          <p:spPr>
            <a:xfrm>
              <a:off x="0" y="-47625"/>
              <a:ext cx="4559649" cy="248467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710636" y="727357"/>
            <a:ext cx="16866728" cy="8832287"/>
            <a:chOff x="0" y="0"/>
            <a:chExt cx="4442266" cy="2326199"/>
          </a:xfrm>
        </p:grpSpPr>
        <p:sp>
          <p:nvSpPr>
            <p:cNvPr name="Freeform 7" id="7"/>
            <p:cNvSpPr/>
            <p:nvPr/>
          </p:nvSpPr>
          <p:spPr>
            <a:xfrm flipH="false" flipV="false" rot="0">
              <a:off x="0" y="0"/>
              <a:ext cx="4442266" cy="2326199"/>
            </a:xfrm>
            <a:custGeom>
              <a:avLst/>
              <a:gdLst/>
              <a:ahLst/>
              <a:cxnLst/>
              <a:rect r="r" b="b" t="t" l="l"/>
              <a:pathLst>
                <a:path h="2326199" w="4442266">
                  <a:moveTo>
                    <a:pt x="0" y="0"/>
                  </a:moveTo>
                  <a:lnTo>
                    <a:pt x="4442266" y="0"/>
                  </a:lnTo>
                  <a:lnTo>
                    <a:pt x="4442266" y="2326199"/>
                  </a:lnTo>
                  <a:lnTo>
                    <a:pt x="0" y="2326199"/>
                  </a:lnTo>
                  <a:close/>
                </a:path>
              </a:pathLst>
            </a:custGeom>
            <a:solidFill>
              <a:srgbClr val="000000">
                <a:alpha val="0"/>
              </a:srgbClr>
            </a:solidFill>
            <a:ln w="38100" cap="sq">
              <a:solidFill>
                <a:srgbClr val="A5A583"/>
              </a:solidFill>
              <a:prstDash val="solid"/>
              <a:miter/>
            </a:ln>
          </p:spPr>
        </p:sp>
        <p:sp>
          <p:nvSpPr>
            <p:cNvPr name="TextBox 8" id="8"/>
            <p:cNvSpPr txBox="true"/>
            <p:nvPr/>
          </p:nvSpPr>
          <p:spPr>
            <a:xfrm>
              <a:off x="0" y="-47625"/>
              <a:ext cx="4442266" cy="237382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1631028" y="3089275"/>
            <a:ext cx="15025943" cy="4422776"/>
          </a:xfrm>
          <a:prstGeom prst="rect">
            <a:avLst/>
          </a:prstGeom>
        </p:spPr>
        <p:txBody>
          <a:bodyPr anchor="t" rtlCol="false" tIns="0" lIns="0" bIns="0" rIns="0">
            <a:spAutoFit/>
          </a:bodyPr>
          <a:lstStyle/>
          <a:p>
            <a:pPr algn="ctr">
              <a:lnSpc>
                <a:spcPts val="17000"/>
              </a:lnSpc>
            </a:pPr>
            <a:r>
              <a:rPr lang="en-US" sz="17000">
                <a:solidFill>
                  <a:srgbClr val="716C50"/>
                </a:solidFill>
                <a:latin typeface="DM Serif Display"/>
                <a:ea typeface="DM Serif Display"/>
                <a:cs typeface="DM Serif Display"/>
                <a:sym typeface="DM Serif Display"/>
              </a:rPr>
              <a:t>THANK</a:t>
            </a:r>
          </a:p>
          <a:p>
            <a:pPr algn="ctr">
              <a:lnSpc>
                <a:spcPts val="17000"/>
              </a:lnSpc>
            </a:pPr>
            <a:r>
              <a:rPr lang="en-US" sz="17000">
                <a:solidFill>
                  <a:srgbClr val="716C50"/>
                </a:solidFill>
                <a:latin typeface="DM Serif Display"/>
                <a:ea typeface="DM Serif Display"/>
                <a:cs typeface="DM Serif Display"/>
                <a:sym typeface="DM Serif Display"/>
              </a:rPr>
              <a:t>YOU</a:t>
            </a:r>
          </a:p>
        </p:txBody>
      </p:sp>
      <p:grpSp>
        <p:nvGrpSpPr>
          <p:cNvPr name="Group 10" id="10"/>
          <p:cNvGrpSpPr/>
          <p:nvPr/>
        </p:nvGrpSpPr>
        <p:grpSpPr>
          <a:xfrm rot="0">
            <a:off x="16037786" y="8023055"/>
            <a:ext cx="1536589" cy="1536589"/>
            <a:chOff x="0" y="0"/>
            <a:chExt cx="2048785" cy="2048785"/>
          </a:xfrm>
        </p:grpSpPr>
        <p:sp>
          <p:nvSpPr>
            <p:cNvPr name="Freeform 11" id="11"/>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4" id="14"/>
          <p:cNvGrpSpPr/>
          <p:nvPr/>
        </p:nvGrpSpPr>
        <p:grpSpPr>
          <a:xfrm rot="-5400000">
            <a:off x="16037786" y="727357"/>
            <a:ext cx="1536589" cy="1536589"/>
            <a:chOff x="0" y="0"/>
            <a:chExt cx="2048785" cy="2048785"/>
          </a:xfrm>
        </p:grpSpPr>
        <p:sp>
          <p:nvSpPr>
            <p:cNvPr name="Freeform 15" id="15"/>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18" id="18"/>
          <p:cNvGrpSpPr/>
          <p:nvPr/>
        </p:nvGrpSpPr>
        <p:grpSpPr>
          <a:xfrm rot="-10800000">
            <a:off x="707647" y="727357"/>
            <a:ext cx="1536589" cy="1536589"/>
            <a:chOff x="0" y="0"/>
            <a:chExt cx="2048785" cy="2048785"/>
          </a:xfrm>
        </p:grpSpPr>
        <p:sp>
          <p:nvSpPr>
            <p:cNvPr name="Freeform 19" id="19"/>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0" id="20"/>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2" id="22"/>
          <p:cNvGrpSpPr/>
          <p:nvPr/>
        </p:nvGrpSpPr>
        <p:grpSpPr>
          <a:xfrm rot="5400000">
            <a:off x="707647" y="8023055"/>
            <a:ext cx="1536589" cy="1536589"/>
            <a:chOff x="0" y="0"/>
            <a:chExt cx="2048785" cy="2048785"/>
          </a:xfrm>
        </p:grpSpPr>
        <p:sp>
          <p:nvSpPr>
            <p:cNvPr name="Freeform 23" id="23"/>
            <p:cNvSpPr/>
            <p:nvPr/>
          </p:nvSpPr>
          <p:spPr>
            <a:xfrm flipH="true" flipV="true" rot="0">
              <a:off x="0" y="0"/>
              <a:ext cx="2048785" cy="2048785"/>
            </a:xfrm>
            <a:custGeom>
              <a:avLst/>
              <a:gdLst/>
              <a:ahLst/>
              <a:cxnLst/>
              <a:rect r="r" b="b" t="t" l="l"/>
              <a:pathLst>
                <a:path h="2048785" w="2048785">
                  <a:moveTo>
                    <a:pt x="2048785" y="2048785"/>
                  </a:moveTo>
                  <a:lnTo>
                    <a:pt x="0" y="2048785"/>
                  </a:lnTo>
                  <a:lnTo>
                    <a:pt x="0" y="0"/>
                  </a:lnTo>
                  <a:lnTo>
                    <a:pt x="2048785" y="0"/>
                  </a:lnTo>
                  <a:lnTo>
                    <a:pt x="2048785" y="204878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true" flipV="true" rot="0">
              <a:off x="0" y="221288"/>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true" flipV="true" rot="0">
              <a:off x="221288" y="0"/>
              <a:ext cx="1827497" cy="1827497"/>
            </a:xfrm>
            <a:custGeom>
              <a:avLst/>
              <a:gdLst/>
              <a:ahLst/>
              <a:cxnLst/>
              <a:rect r="r" b="b" t="t" l="l"/>
              <a:pathLst>
                <a:path h="1827497" w="1827497">
                  <a:moveTo>
                    <a:pt x="1827497" y="1827497"/>
                  </a:moveTo>
                  <a:lnTo>
                    <a:pt x="0" y="1827497"/>
                  </a:lnTo>
                  <a:lnTo>
                    <a:pt x="0" y="0"/>
                  </a:lnTo>
                  <a:lnTo>
                    <a:pt x="1827497" y="0"/>
                  </a:lnTo>
                  <a:lnTo>
                    <a:pt x="1827497" y="182749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DAGlvPaoiaw</dc:identifier>
  <dcterms:modified xsi:type="dcterms:W3CDTF">2011-08-01T06:04:30Z</dcterms:modified>
  <cp:revision>1</cp:revision>
  <dc:title>Thyroid Cancer</dc:title>
</cp:coreProperties>
</file>